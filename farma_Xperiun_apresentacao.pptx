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02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noProof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Estratégico de Dados</a:t>
            </a:r>
            <a:endParaRPr lang="pt-BR" sz="20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029200" cy="45720"/>
          </a:xfrm>
          <a:prstGeom prst="rect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análise: Jan 2014 – Out 2019  |  85.407 transações  |  33 produtos  |  8 fornecedores</a:t>
            </a:r>
            <a:endParaRPr lang="pt-BR" sz="1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292CA4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R$ 2,31M</a:t>
            </a:r>
            <a:endParaRPr lang="pt-B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pt-BR" sz="1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292CA4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R$ 671K</a:t>
            </a:r>
            <a:endParaRPr lang="pt-BR" sz="2600" noProof="0" dirty="0"/>
          </a:p>
        </p:txBody>
      </p:sp>
      <p:sp>
        <p:nvSpPr>
          <p:cNvPr id="12" name="Text 10"/>
          <p:cNvSpPr/>
          <p:nvPr/>
        </p:nvSpPr>
        <p:spPr>
          <a:xfrm>
            <a:off x="329184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Total</a:t>
            </a:r>
            <a:endParaRPr lang="pt-BR" sz="1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292CA4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R$ 27,09</a:t>
            </a:r>
            <a:endParaRPr lang="pt-BR" sz="26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pt-BR" sz="1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pt-BR" sz="90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r>
              <a:rPr lang="pt-BR" sz="9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BR" sz="90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Xperiun</a:t>
            </a:r>
            <a:r>
              <a:rPr lang="pt-BR" sz="9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MBA </a:t>
            </a:r>
            <a:r>
              <a:rPr lang="pt-BR" sz="900" noProof="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r>
              <a:rPr lang="pt-BR" sz="90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2026</a:t>
            </a:r>
            <a:endParaRPr lang="pt-BR" sz="900" noProof="0" dirty="0">
              <a:solidFill>
                <a:schemeClr val="bg1"/>
              </a:solidFill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9D74481-EC44-BACB-9CAF-86FE2BE32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442"/>
            <a:ext cx="4244658" cy="1267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2CA4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 EM NÚMEROS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677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anos de operação  |  Visão geral consolidada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1627632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7160" y="123444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R$ 2,31M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" y="188366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" y="2267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2014 – Out 2019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9384" y="960120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929384" y="960120"/>
            <a:ext cx="1627632" cy="10972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929384" y="123444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R$ 671K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9384" y="188366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Total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9384" y="2267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29,0%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21608" y="960120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721608" y="960120"/>
            <a:ext cx="1627632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721608" y="123444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R$ 27,09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21608" y="188366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21608" y="2267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transação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13832" y="960120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513832" y="960120"/>
            <a:ext cx="1627632" cy="1097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513832" y="123444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13832" y="188366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3832" y="2267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 vendas/dia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06056" y="960120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306056" y="960120"/>
            <a:ext cx="162763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06056" y="123444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06056" y="188366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c/ Desconto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06056" y="2267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R$ 23,5K concedidos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 MARGEM POR GRUPO TERAPÊUTICO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429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Respiratório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3465576"/>
            <a:ext cx="5029200" cy="128016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2286000" y="3465576"/>
            <a:ext cx="5029200" cy="128016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2286000" y="3611880"/>
            <a:ext cx="1202081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406640" y="3429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23,9%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831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Analgésicos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0" y="3867912"/>
            <a:ext cx="5029200" cy="128016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2286000" y="3867912"/>
            <a:ext cx="4864093" cy="12801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286000" y="4014216"/>
            <a:ext cx="1890867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406640" y="38313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38,9%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233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Nervoso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4270248"/>
            <a:ext cx="5029200" cy="128016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2286000" y="4270248"/>
            <a:ext cx="3410754" cy="128016"/>
          </a:xfrm>
          <a:prstGeom prst="rect">
            <a:avLst/>
          </a:prstGeom>
          <a:solidFill>
            <a:srgbClr val="5B8FCC">
              <a:alpha val="80000"/>
            </a:srgbClr>
          </a:solidFill>
          <a:ln w="12700">
            <a:solidFill>
              <a:srgbClr val="5B8FC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2286000" y="4416552"/>
            <a:ext cx="789657" cy="73152"/>
          </a:xfrm>
          <a:prstGeom prst="rect">
            <a:avLst/>
          </a:prstGeom>
          <a:solidFill>
            <a:srgbClr val="5B8FCC"/>
          </a:solidFill>
          <a:ln w="12700">
            <a:solidFill>
              <a:srgbClr val="5B8F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406640" y="4233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23,2%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636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Anti-inflamatórios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4672584"/>
            <a:ext cx="5029200" cy="128016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2286000" y="4672584"/>
            <a:ext cx="2916491" cy="128016"/>
          </a:xfrm>
          <a:prstGeom prst="rect">
            <a:avLst/>
          </a:prstGeom>
          <a:solidFill>
            <a:srgbClr val="8B7ECC">
              <a:alpha val="80000"/>
            </a:srgbClr>
          </a:solidFill>
          <a:ln w="12700">
            <a:solidFill>
              <a:srgbClr val="8B7EC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2286000" y="4818888"/>
            <a:ext cx="827359" cy="73152"/>
          </a:xfrm>
          <a:prstGeom prst="rect">
            <a:avLst/>
          </a:prstGeom>
          <a:solidFill>
            <a:srgbClr val="8B7ECC"/>
          </a:solidFill>
          <a:ln w="12700">
            <a:solidFill>
              <a:srgbClr val="8B7E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7406640" y="46360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7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Margem: 28,4%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0" y="4958078"/>
            <a:ext cx="320040" cy="91440"/>
          </a:xfrm>
          <a:prstGeom prst="rect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2651760" y="493064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49040" y="4958078"/>
            <a:ext cx="320040" cy="914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4114800" y="493064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Lucro</a:t>
            </a:r>
            <a:endParaRPr lang="en-US" sz="800" dirty="0"/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CFE549AD-589A-2C1D-4A0B-9AAEAF50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6097"/>
            <a:ext cx="1837944" cy="5489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2CA4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SUSTENTA O LUCRO?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682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portfólio e rentabilidade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91440" cy="2057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 paradoxo da receita vs. lucro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Respiratório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lidera em receita com R$ 717K — mas tem a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pior margem do portfólio: 23,9%.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Analgésicos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faturam R$ 694K (2º lugar) e têm a </a:t>
            </a: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margem: 38,9%.</a:t>
            </a: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eles que sustentam o lucro da farmácia.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343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91440" cy="20574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— Produtos por Lucro Total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53896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84064" y="14173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Novalgina 1g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14173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R$ 52K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14173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34,3%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755648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00600" y="1755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84064" y="17190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+ Cafeína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171907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171907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05740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00600" y="2057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4064" y="202082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Formoterol 12mcg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02082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R$ 46K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09560" y="202082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359152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00600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84064" y="232257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Gotas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232257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09560" y="23225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39,4%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66090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800600" y="2660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84064" y="262432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Budesonida 200mcg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262432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R$ 38K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09560" y="262432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154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LIVRE vs. CONTROLADOS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74320" y="3520440"/>
            <a:ext cx="5577840" cy="457200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852160" y="3520440"/>
            <a:ext cx="3017520" cy="45720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0040" y="3520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Livre — 65,0%  |  R$ 1,50M  |  Margem ~35%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Controlados — 35,0%  |  R$ 0,81M  |  Margem ~23%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160520"/>
            <a:ext cx="8686800" cy="804672"/>
          </a:xfrm>
          <a:prstGeom prst="rect">
            <a:avLst/>
          </a:prstGeom>
          <a:solidFill>
            <a:srgbClr val="EBF8F4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11480" y="42062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Insight-chave: Os 3 maiores produtos por lucro (Novalgina, Paracetamol+Cafeína e Paracetamol Gotas) são analgésicos de venda livre com ticket abaixo de R$ 15. O segredo não é o preço alto — é a consistência de volume com margem sólida.</a:t>
            </a:r>
            <a:endParaRPr lang="en-US" sz="1100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C93927FA-D67E-811D-2101-0E07D30B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6097"/>
            <a:ext cx="1837944" cy="548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2CA4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&amp; COMPORTAMENTO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682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como a farmácia vende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303520" cy="191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Respiratório — Receita por Mês (R$)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22418"/>
            <a:ext cx="329184" cy="767317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509838"/>
            <a:ext cx="329184" cy="679897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9808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33856" y="1394152"/>
            <a:ext cx="329184" cy="795583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33856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17904" y="1398069"/>
            <a:ext cx="329184" cy="79166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517904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01952" y="1464170"/>
            <a:ext cx="329184" cy="725565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901952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0" y="1558152"/>
            <a:ext cx="329184" cy="631583"/>
          </a:xfrm>
          <a:prstGeom prst="rect">
            <a:avLst/>
          </a:prstGeom>
          <a:solidFill>
            <a:srgbClr val="E63946">
              <a:alpha val="90000"/>
            </a:srgbClr>
          </a:solidFill>
          <a:ln w="12700">
            <a:solidFill>
              <a:srgbClr val="E6394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286000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70048" y="1710805"/>
            <a:ext cx="329184" cy="478930"/>
          </a:xfrm>
          <a:prstGeom prst="rect">
            <a:avLst/>
          </a:prstGeom>
          <a:solidFill>
            <a:srgbClr val="E63946">
              <a:alpha val="90000"/>
            </a:srgbClr>
          </a:solidFill>
          <a:ln w="12700">
            <a:solidFill>
              <a:srgbClr val="E6394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670048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54096" y="1747410"/>
            <a:ext cx="329184" cy="442325"/>
          </a:xfrm>
          <a:prstGeom prst="rect">
            <a:avLst/>
          </a:prstGeom>
          <a:solidFill>
            <a:srgbClr val="E63946">
              <a:alpha val="90000"/>
            </a:srgbClr>
          </a:solidFill>
          <a:ln w="12700">
            <a:solidFill>
              <a:srgbClr val="E6394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054096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38144" y="1651245"/>
            <a:ext cx="329184" cy="53849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438144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22192" y="1470095"/>
            <a:ext cx="329184" cy="7196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822192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1616637"/>
            <a:ext cx="329184" cy="57309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206240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90288" y="1461931"/>
            <a:ext cx="329184" cy="727804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90288" y="223545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68880" y="863855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Queda no inverno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(Jun–Ago: -44%)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249148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Inverno = menor volume respiratório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(contra-intuitivo: mais doenças, menos vendas por estoque ou receita)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60720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TURNO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1169766"/>
            <a:ext cx="3154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760720" y="1169766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943600" y="12154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MANHÃ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147151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R$ 26,65  |  Vendas: 31.089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70128" y="127949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1778922"/>
            <a:ext cx="3154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760720" y="1778922"/>
            <a:ext cx="7315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943600" y="182464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TARDE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208067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R$ 26,14  |  Vendas: 29.446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70128" y="188865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29,1%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760720" y="2395512"/>
            <a:ext cx="3154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5760720" y="2395512"/>
            <a:ext cx="73152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943600" y="2441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NOITE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2697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R$ 28,77  |  Vendas: 24.872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70128" y="2505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29,3%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760720" y="3013812"/>
            <a:ext cx="3154680" cy="530352"/>
          </a:xfrm>
          <a:prstGeom prst="rect">
            <a:avLst/>
          </a:prstGeom>
          <a:solidFill>
            <a:srgbClr val="EBF8F4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897880" y="30595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Noite tem o maior ticket médio (+8% vs. Tarde)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noturno compra por urgência, com menos negociação.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60720" y="37293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PAGAMENTO (% Receita)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0720" y="4044176"/>
            <a:ext cx="475488" cy="8935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5723550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PIX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400800" y="4210628"/>
            <a:ext cx="475488" cy="7271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363630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040880" y="4368320"/>
            <a:ext cx="475488" cy="569440"/>
          </a:xfrm>
          <a:prstGeom prst="rect">
            <a:avLst/>
          </a:prstGeom>
          <a:solidFill>
            <a:srgbClr val="5B8FCC"/>
          </a:solidFill>
          <a:ln w="12700">
            <a:solidFill>
              <a:srgbClr val="5B8F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7003710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Débito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680960" y="4490968"/>
            <a:ext cx="475488" cy="446792"/>
          </a:xfrm>
          <a:prstGeom prst="rect">
            <a:avLst/>
          </a:prstGeom>
          <a:solidFill>
            <a:srgbClr val="8B7ECC"/>
          </a:solidFill>
          <a:ln w="12700">
            <a:solidFill>
              <a:srgbClr val="8B7E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7643790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Dinheiro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321040" y="4651579"/>
            <a:ext cx="475488" cy="28618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8283870" y="4937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Convênio</a:t>
            </a:r>
            <a:endParaRPr lang="en-US" sz="700" dirty="0"/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3CECCA90-BBC5-1BBC-18EC-FC15EC397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6097"/>
            <a:ext cx="1837944" cy="548932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59654667-3188-8CFD-C79D-4E7A6247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925864"/>
            <a:ext cx="3839235" cy="2208875"/>
          </a:xfrm>
          <a:prstGeom prst="rect">
            <a:avLst/>
          </a:prstGeom>
        </p:spPr>
      </p:pic>
      <p:sp>
        <p:nvSpPr>
          <p:cNvPr id="66" name="Shape 48">
            <a:extLst>
              <a:ext uri="{FF2B5EF4-FFF2-40B4-BE49-F238E27FC236}">
                <a16:creationId xmlns:a16="http://schemas.microsoft.com/office/drawing/2014/main" id="{FF1A6201-C63A-34BA-5138-3D6DE6E53909}"/>
              </a:ext>
            </a:extLst>
          </p:cNvPr>
          <p:cNvSpPr/>
          <p:nvPr/>
        </p:nvSpPr>
        <p:spPr>
          <a:xfrm>
            <a:off x="4146210" y="2929888"/>
            <a:ext cx="1385910" cy="2132765"/>
          </a:xfrm>
          <a:prstGeom prst="rect">
            <a:avLst/>
          </a:prstGeom>
          <a:solidFill>
            <a:srgbClr val="EBF8F4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49">
            <a:extLst>
              <a:ext uri="{FF2B5EF4-FFF2-40B4-BE49-F238E27FC236}">
                <a16:creationId xmlns:a16="http://schemas.microsoft.com/office/drawing/2014/main" id="{B1026290-648E-95EE-D483-C6DAB8E2B5A6}"/>
              </a:ext>
            </a:extLst>
          </p:cNvPr>
          <p:cNvSpPr/>
          <p:nvPr/>
        </p:nvSpPr>
        <p:spPr>
          <a:xfrm>
            <a:off x="4196445" y="2989872"/>
            <a:ext cx="1300345" cy="198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pt-BR" sz="900" noProof="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Quando comparamos métricas financeiras pelo método Year-over-Year (ou </a:t>
            </a:r>
            <a:r>
              <a:rPr lang="pt-BR" sz="900" noProof="0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r>
              <a:rPr lang="pt-BR" sz="900" noProof="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(a comparação dos últimos 12 meses versus os 12 meses anteriores), vemos que existe um deslocamento na política de descontos, o que levou à margem (em rosa no gráfico) a cair de forma consistente nos últimos 3 anos de dados.</a:t>
            </a:r>
            <a:endParaRPr lang="pt-B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2CA4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METAS: A VERDADE DOS NÚMEROS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0"/>
            <a:ext cx="68187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noProof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vs. </a:t>
            </a:r>
            <a:r>
              <a:rPr lang="pt-BR" sz="1200" noProof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mensais | 2014–2019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2860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bateu a meta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69 meses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2316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 meta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R$ 2,30M / R$ 2,36M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201168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61772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R$ 59K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acumulado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total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D1B4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812280" y="960120"/>
            <a:ext cx="2011680" cy="91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1228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2016/17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anos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atingimento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12 meses batidos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ATINGIMENTO ANUAL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" y="3054357"/>
            <a:ext cx="640080" cy="101472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74320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74320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15568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115568" y="3079438"/>
            <a:ext cx="640080" cy="98964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115568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115568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956816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1956816" y="3027187"/>
            <a:ext cx="640080" cy="1041893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956816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956816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56816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56816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98064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2798064" y="3024051"/>
            <a:ext cx="640080" cy="1045029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2798064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798064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98064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98064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39312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3639312" y="3028232"/>
            <a:ext cx="640080" cy="10408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3639312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639312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39312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39312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80560" y="2971800"/>
            <a:ext cx="640080" cy="109728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4480560" y="3099293"/>
            <a:ext cx="640080" cy="969787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4480560" y="3104388"/>
            <a:ext cx="640080" cy="0"/>
          </a:xfrm>
          <a:prstGeom prst="line">
            <a:avLst/>
          </a:prstGeom>
          <a:noFill/>
          <a:ln w="12700">
            <a:solidFill>
              <a:srgbClr val="0D1B4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4480560" y="4114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480560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80560" y="45171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44250" y="2651760"/>
            <a:ext cx="362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QUE MAIS PERDERAM A META (histórico)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44251" y="3017520"/>
            <a:ext cx="7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126480" y="3072384"/>
            <a:ext cx="237744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8627531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244251" y="3346704"/>
            <a:ext cx="7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126480" y="3401568"/>
            <a:ext cx="2377440" cy="16459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6126480" y="3401568"/>
            <a:ext cx="190195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8627531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244251" y="3675888"/>
            <a:ext cx="7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3730752"/>
            <a:ext cx="2377440" cy="16459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6126480" y="3730752"/>
            <a:ext cx="159288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8627531" y="3675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244251" y="4005072"/>
            <a:ext cx="7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126480" y="4059936"/>
            <a:ext cx="2377440" cy="16459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6126480" y="4059936"/>
            <a:ext cx="159288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8627531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6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244251" y="4334256"/>
            <a:ext cx="7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126480" y="4389120"/>
            <a:ext cx="2377440" cy="164592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6126480" y="4389120"/>
            <a:ext cx="159288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8627531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6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120640" y="4666823"/>
            <a:ext cx="379476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5257800" y="4703399"/>
            <a:ext cx="3520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Junho nunca bateu a meta em 6 anos. É um problema estrutural — não pontual.</a:t>
            </a:r>
            <a:endParaRPr lang="en-US" sz="1000" dirty="0"/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5F6F3D8C-D33E-74C5-2189-AD94D6F4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6097"/>
            <a:ext cx="1837944" cy="5489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DE 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prioridades para fortalecer o negócio: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458200" cy="1115568"/>
          </a:xfrm>
          <a:prstGeom prst="rect">
            <a:avLst/>
          </a:prstGeom>
          <a:solidFill>
            <a:srgbClr val="292CA4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325880" y="1344168"/>
            <a:ext cx="77724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15819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o motor de lucro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928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Analgésicos respondem por 40% do lucro com 38,9% de margem. Garantir estoque permanente, negociar prazos melhores com EMS e Medley, e evitar descontos nesse grupo são ações de impacto imediato.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458200" cy="1115568"/>
          </a:xfrm>
          <a:prstGeom prst="rect">
            <a:avLst/>
          </a:prstGeom>
          <a:solidFill>
            <a:srgbClr val="292CA4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325880" y="2596896"/>
            <a:ext cx="7772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2834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plano para Junho — todo ano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14553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nunca bateu a meta em 6 anos. Isso exige uma ação planejada: campanha de fidelização, promoção de anti-histamínicos (primavera chegando), e revisão da meta do mês para refletir a realidade histórica.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8458200" cy="1115568"/>
          </a:xfrm>
          <a:prstGeom prst="rect">
            <a:avLst/>
          </a:prstGeom>
          <a:solidFill>
            <a:srgbClr val="292CA4"/>
          </a:solidFill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" y="384962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325880" y="3849624"/>
            <a:ext cx="777240" cy="2011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25880" y="38496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25880" y="40873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Rentabilizar o turno da noite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39826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Noite tem o maior ticket (R$ 28,77) e menos vendas. É o turno de compra por urgência: cliente não pesquisa preço. Oportunidade para ofertar combos de produtos complementares e reduzir descontos nesse período.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240"/>
          </a:solidFill>
          <a:ln w="12700">
            <a:solidFill>
              <a:srgbClr val="0A12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 Xperiun  |  Data Challenge Xperiun  |  MBA Analytics  |  2026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EA49538F-D741-8F85-2E33-5BE7F968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6097"/>
            <a:ext cx="1837944" cy="548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3427</TotalTime>
  <Words>816</Words>
  <Application>Microsoft Office PowerPoint</Application>
  <PresentationFormat>Apresentação na tela (16:9)</PresentationFormat>
  <Paragraphs>174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 Xperiun — Diagnóstico Estratégico</dc:title>
  <dc:subject>PptxGenJS Presentation</dc:subject>
  <dc:creator>PptxGenJS</dc:creator>
  <cp:lastModifiedBy>Bruno Pasquini</cp:lastModifiedBy>
  <cp:revision>10</cp:revision>
  <dcterms:created xsi:type="dcterms:W3CDTF">2026-02-23T04:14:23Z</dcterms:created>
  <dcterms:modified xsi:type="dcterms:W3CDTF">2026-03-10T00:48:03Z</dcterms:modified>
</cp:coreProperties>
</file>